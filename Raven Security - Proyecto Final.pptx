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Inter" panose="020B0604020202020204" charset="0"/>
      <p:regular r:id="rId15"/>
      <p:bold r:id="rId16"/>
      <p:italic r:id="rId17"/>
      <p:boldItalic r:id="rId18"/>
    </p:embeddedFont>
    <p:embeddedFont>
      <p:font typeface="Inter SemiBold" panose="020B0604020202020204" charset="0"/>
      <p:regular r:id="rId19"/>
      <p:bold r:id="rId20"/>
      <p:italic r:id="rId21"/>
      <p:boldItalic r:id="rId22"/>
    </p:embeddedFont>
    <p:embeddedFont>
      <p:font typeface="Urbanist" panose="020B0604020202020204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9EF75F8-2777-48CC-8FBA-4F5B5BF0586D}">
  <a:tblStyle styleId="{19EF75F8-2777-48CC-8FBA-4F5B5BF0586D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1020" y="6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C0B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295275" y="2574577"/>
            <a:ext cx="11601600" cy="9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RAVEN SECURITY</a:t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571500" y="3441352"/>
            <a:ext cx="110490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22C55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INFORME TÉCNICO CONSOLIDADO</a:t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4191000" y="4489102"/>
            <a:ext cx="3810000" cy="1622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5095875"/>
            <a:ext cx="11049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PROYECTO FINAL: Análisis Forense &amp; Pentesting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571500" y="5810250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Analista: </a:t>
            </a:r>
            <a:r>
              <a:rPr lang="en-US" sz="1500" b="1" i="0" u="none" strike="noStrike" cap="none">
                <a:solidFill>
                  <a:srgbClr val="22C55E"/>
                </a:solidFill>
                <a:latin typeface="Inter"/>
                <a:ea typeface="Inter"/>
                <a:cs typeface="Inter"/>
                <a:sym typeface="Inter"/>
              </a:rPr>
              <a:t>Julio Leandro Fraga Pirola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| Mayo 2026</a:t>
            </a:r>
            <a:endParaRPr/>
          </a:p>
        </p:txBody>
      </p:sp>
      <p:pic>
        <p:nvPicPr>
          <p:cNvPr id="89" name="Google Shape;89;p13" title="Gemini_Generated_Image_ch6lhcch6lhcch6l.png"/>
          <p:cNvPicPr preferRelativeResize="0"/>
          <p:nvPr/>
        </p:nvPicPr>
        <p:blipFill rotWithShape="1">
          <a:blip r:embed="rId3">
            <a:alphaModFix/>
          </a:blip>
          <a:srcRect l="-5326" r="6688"/>
          <a:stretch/>
        </p:blipFill>
        <p:spPr>
          <a:xfrm>
            <a:off x="4110450" y="0"/>
            <a:ext cx="3890550" cy="2269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C0B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295275" y="1857375"/>
            <a:ext cx="1160145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22C55E"/>
                </a:solidFill>
                <a:latin typeface="Urbanist"/>
                <a:ea typeface="Urbanist"/>
                <a:cs typeface="Urbanist"/>
                <a:sym typeface="Urbanist"/>
              </a:rPr>
              <a:t>01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295275" y="3000375"/>
            <a:ext cx="116014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RESUMEN EJECUTIVO</a:t>
            </a:r>
            <a:endParaRPr/>
          </a:p>
        </p:txBody>
      </p:sp>
      <p:sp>
        <p:nvSpPr>
          <p:cNvPr id="97" name="Google Shape;97;p14"/>
          <p:cNvSpPr/>
          <p:nvPr/>
        </p:nvSpPr>
        <p:spPr>
          <a:xfrm>
            <a:off x="5381625" y="3971925"/>
            <a:ext cx="1428750" cy="5715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2286000" y="4314825"/>
            <a:ext cx="76200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Compromiso total del sistema detectado el </a:t>
            </a:r>
            <a:r>
              <a:rPr lang="en-US" sz="1800" b="1" i="0" u="none" strike="noStrike" cap="none">
                <a:solidFill>
                  <a:srgbClr val="22C55E"/>
                </a:solidFill>
                <a:latin typeface="Inter"/>
                <a:ea typeface="Inter"/>
                <a:cs typeface="Inter"/>
                <a:sym typeface="Inter"/>
              </a:rPr>
              <a:t>08 de octubre</a:t>
            </a:r>
            <a:r>
              <a:rPr lang="en-US" sz="18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. Exposición de privilegios de administrador y falta de endurecimiento básico.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C0B"/>
        </a:solid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23400" y="1428750"/>
            <a:ext cx="5238750" cy="2876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75" y="645976"/>
            <a:ext cx="5238750" cy="309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397025"/>
            <a:ext cx="5238750" cy="2176875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5"/>
          <p:cNvSpPr txBox="1"/>
          <p:nvPr/>
        </p:nvSpPr>
        <p:spPr>
          <a:xfrm>
            <a:off x="800650" y="1962150"/>
            <a:ext cx="4780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ANÁLISIS FORENSE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800100" y="2471200"/>
            <a:ext cx="45531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Uso de </a:t>
            </a:r>
            <a:r>
              <a:rPr lang="en-US" sz="1500" b="1" i="0" u="none" strike="noStrike" cap="none">
                <a:solidFill>
                  <a:srgbClr val="22C55E"/>
                </a:solidFill>
                <a:latin typeface="Inter"/>
                <a:ea typeface="Inter"/>
                <a:cs typeface="Inter"/>
                <a:sym typeface="Inter"/>
              </a:rPr>
              <a:t>Autopsy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para procesar imagen .raw, recuperación de archivos borrados y reconstrucción de Timeline.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914400" y="5034100"/>
            <a:ext cx="47805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PENTESTING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914400" y="5311300"/>
            <a:ext cx="45531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Auditoría de Caja Negra con </a:t>
            </a:r>
            <a:r>
              <a:rPr lang="en-US" sz="1500" b="1" i="0" u="none" strike="noStrike" cap="none">
                <a:solidFill>
                  <a:srgbClr val="22C55E"/>
                </a:solidFill>
                <a:latin typeface="Inter"/>
                <a:ea typeface="Inter"/>
                <a:cs typeface="Inter"/>
                <a:sym typeface="Inter"/>
              </a:rPr>
              <a:t>Kali Linux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: Reconocimiento (Nmap), Explotación y Escalada de Privilegios.</a:t>
            </a:r>
            <a:endParaRPr/>
          </a:p>
        </p:txBody>
      </p:sp>
      <p:pic>
        <p:nvPicPr>
          <p:cNvPr id="111" name="Google Shape;111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0100" y="1389150"/>
            <a:ext cx="40005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38200" y="4505325"/>
            <a:ext cx="352425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800100" y="571500"/>
            <a:ext cx="1136142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METODOLOGÍA DE TRABAJO</a:t>
            </a:r>
            <a:endParaRPr/>
          </a:p>
        </p:txBody>
      </p:sp>
      <p:sp>
        <p:nvSpPr>
          <p:cNvPr id="114" name="Google Shape;114;p15"/>
          <p:cNvSpPr/>
          <p:nvPr/>
        </p:nvSpPr>
        <p:spPr>
          <a:xfrm>
            <a:off x="571500" y="571500"/>
            <a:ext cx="76200" cy="504825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5" name="Google Shape;115;p15" title="autospy image.jp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804325" y="1389150"/>
            <a:ext cx="4178714" cy="27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 title="kali imagen.jp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147150" y="4487775"/>
            <a:ext cx="3695625" cy="217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C0B"/>
        </a:soli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6"/>
          <p:cNvSpPr txBox="1"/>
          <p:nvPr/>
        </p:nvSpPr>
        <p:spPr>
          <a:xfrm>
            <a:off x="571500" y="5143500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Datos extraídos mediante el análisis de artefactos en system.journal y archivos de historial.</a:t>
            </a:r>
            <a:endParaRPr/>
          </a:p>
        </p:txBody>
      </p:sp>
      <p:sp>
        <p:nvSpPr>
          <p:cNvPr id="123" name="Google Shape;123;p16"/>
          <p:cNvSpPr/>
          <p:nvPr/>
        </p:nvSpPr>
        <p:spPr>
          <a:xfrm>
            <a:off x="571500" y="3267075"/>
            <a:ext cx="11049000" cy="1905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6"/>
          <p:cNvSpPr/>
          <p:nvPr/>
        </p:nvSpPr>
        <p:spPr>
          <a:xfrm>
            <a:off x="1672530" y="240030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6"/>
          <p:cNvSpPr txBox="1"/>
          <p:nvPr/>
        </p:nvSpPr>
        <p:spPr>
          <a:xfrm>
            <a:off x="510733" y="2886075"/>
            <a:ext cx="2552193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22C55E"/>
                </a:solidFill>
                <a:latin typeface="Urbanist"/>
                <a:ea typeface="Urbanist"/>
                <a:cs typeface="Urbanist"/>
                <a:sym typeface="Urbanist"/>
              </a:rPr>
              <a:t>17:40:59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571500" y="3333750"/>
            <a:ext cx="243066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Intrusión inicial exitosa vía SSH como </a:t>
            </a:r>
            <a:r>
              <a:rPr lang="en-US" sz="1500" b="1" i="0" u="none" strike="noStrike" cap="none">
                <a:solidFill>
                  <a:srgbClr val="22C55E"/>
                </a:solidFill>
                <a:latin typeface="Inter"/>
                <a:ea typeface="Inter"/>
                <a:cs typeface="Inter"/>
                <a:sym typeface="Inter"/>
              </a:rPr>
              <a:t>root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127" name="Google Shape;127;p16"/>
          <p:cNvSpPr/>
          <p:nvPr/>
        </p:nvSpPr>
        <p:spPr>
          <a:xfrm>
            <a:off x="4545210" y="240030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6"/>
          <p:cNvSpPr txBox="1"/>
          <p:nvPr/>
        </p:nvSpPr>
        <p:spPr>
          <a:xfrm>
            <a:off x="3383413" y="2886075"/>
            <a:ext cx="2552193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22C55E"/>
                </a:solidFill>
                <a:latin typeface="Urbanist"/>
                <a:ea typeface="Urbanist"/>
                <a:cs typeface="Urbanist"/>
                <a:sym typeface="Urbanist"/>
              </a:rPr>
              <a:t>21:00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3444180" y="3333750"/>
            <a:ext cx="243066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Pico de modificaciones en directorios críticos (/etc, /var).</a:t>
            </a:r>
            <a:endParaRPr/>
          </a:p>
        </p:txBody>
      </p:sp>
      <p:sp>
        <p:nvSpPr>
          <p:cNvPr id="130" name="Google Shape;130;p16"/>
          <p:cNvSpPr/>
          <p:nvPr/>
        </p:nvSpPr>
        <p:spPr>
          <a:xfrm>
            <a:off x="7417891" y="240030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6"/>
          <p:cNvSpPr txBox="1"/>
          <p:nvPr/>
        </p:nvSpPr>
        <p:spPr>
          <a:xfrm>
            <a:off x="6256094" y="2886075"/>
            <a:ext cx="2552193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22C55E"/>
                </a:solidFill>
                <a:latin typeface="Urbanist"/>
                <a:ea typeface="Urbanist"/>
                <a:cs typeface="Urbanist"/>
                <a:sym typeface="Urbanist"/>
              </a:rPr>
              <a:t>22:41:52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6316860" y="3333750"/>
            <a:ext cx="243066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Último registro de actividad en Journal de usuario.</a:t>
            </a:r>
            <a:endParaRPr/>
          </a:p>
        </p:txBody>
      </p:sp>
      <p:sp>
        <p:nvSpPr>
          <p:cNvPr id="133" name="Google Shape;133;p16"/>
          <p:cNvSpPr/>
          <p:nvPr/>
        </p:nvSpPr>
        <p:spPr>
          <a:xfrm>
            <a:off x="10290571" y="240030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6"/>
          <p:cNvSpPr txBox="1"/>
          <p:nvPr/>
        </p:nvSpPr>
        <p:spPr>
          <a:xfrm>
            <a:off x="9128774" y="2886075"/>
            <a:ext cx="2552193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22C55E"/>
                </a:solidFill>
                <a:latin typeface="Urbanist"/>
                <a:ea typeface="Urbanist"/>
                <a:cs typeface="Urbanist"/>
                <a:sym typeface="Urbanist"/>
              </a:rPr>
              <a:t>23:28:36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9189541" y="3333750"/>
            <a:ext cx="243066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Cierre de sesión y finalización del compromiso.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800100" y="571500"/>
            <a:ext cx="1136142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CRONOLOGÍA: 08 DE OCTUBRE</a:t>
            </a:r>
            <a:endParaRPr/>
          </a:p>
        </p:txBody>
      </p:sp>
      <p:sp>
        <p:nvSpPr>
          <p:cNvPr id="137" name="Google Shape;137;p16"/>
          <p:cNvSpPr/>
          <p:nvPr/>
        </p:nvSpPr>
        <p:spPr>
          <a:xfrm>
            <a:off x="571500" y="571500"/>
            <a:ext cx="76200" cy="504825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C0B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890825"/>
            <a:ext cx="5845400" cy="220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734175" y="2871787"/>
            <a:ext cx="4886325" cy="8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7"/>
          <p:cNvSpPr txBox="1"/>
          <p:nvPr/>
        </p:nvSpPr>
        <p:spPr>
          <a:xfrm>
            <a:off x="962025" y="3281362"/>
            <a:ext cx="48102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22C55E"/>
                </a:solidFill>
                <a:latin typeface="Inter"/>
                <a:ea typeface="Inter"/>
                <a:cs typeface="Inter"/>
                <a:sym typeface="Inter"/>
              </a:rPr>
              <a:t>192.168.0.13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962025" y="4186237"/>
            <a:ext cx="481012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IP de Origen Atacante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6734175" y="2462212"/>
            <a:ext cx="5130641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EVIDENCIA TÉCNICA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6734175" y="3948112"/>
            <a:ext cx="4886325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El atacante obtuvo acceso directo a la cuenta de superusuario. La falta de deshabilitación del </a:t>
            </a:r>
            <a:r>
              <a:rPr lang="en-US" sz="1500" b="1" i="0" u="none" strike="noStrike" cap="none">
                <a:solidFill>
                  <a:srgbClr val="22C55E"/>
                </a:solidFill>
                <a:latin typeface="Inter"/>
                <a:ea typeface="Inter"/>
                <a:cs typeface="Inter"/>
                <a:sym typeface="Inter"/>
              </a:rPr>
              <a:t>Root Login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en SSH fue el principal facilitador del compromiso inicial.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800100" y="571500"/>
            <a:ext cx="1136142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VECTOR DE ACCESO: SSH COMPROMISE</a:t>
            </a:r>
            <a:endParaRPr/>
          </a:p>
        </p:txBody>
      </p:sp>
      <p:sp>
        <p:nvSpPr>
          <p:cNvPr id="150" name="Google Shape;150;p17"/>
          <p:cNvSpPr/>
          <p:nvPr/>
        </p:nvSpPr>
        <p:spPr>
          <a:xfrm>
            <a:off x="571500" y="571500"/>
            <a:ext cx="76200" cy="504825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C0B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47887"/>
            <a:ext cx="3530649" cy="3448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30749" y="2147887"/>
            <a:ext cx="3530649" cy="3448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89999" y="2147887"/>
            <a:ext cx="3530649" cy="344805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8"/>
          <p:cNvSpPr txBox="1"/>
          <p:nvPr/>
        </p:nvSpPr>
        <p:spPr>
          <a:xfrm>
            <a:off x="914400" y="3167062"/>
            <a:ext cx="298709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FTP ANÓNIMO</a:t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914400" y="3633787"/>
            <a:ext cx="2844849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Servicio vsftpd 3.0.3 permitiendo acceso sin credenciales, exponiendo la estructura del sistema de archivos.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4673649" y="3167062"/>
            <a:ext cx="298709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CMS OBSOLETO</a:t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4673649" y="3633787"/>
            <a:ext cx="2844849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Instancia de WordPress v6.9.4 con vulnerabilidades conocidas, XML-RPC habilitado y listado de directorios activo.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8432899" y="3167062"/>
            <a:ext cx="298709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SSH DÉBIL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8432899" y="3633787"/>
            <a:ext cx="2844849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Permitía fuerza bruta (Hydra) y logueo de root con contraseñas triviales identificadas como '123456'.</a:t>
            </a:r>
            <a:endParaRPr/>
          </a:p>
        </p:txBody>
      </p:sp>
      <p:pic>
        <p:nvPicPr>
          <p:cNvPr id="165" name="Google Shape;165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14400" y="2528887"/>
            <a:ext cx="447675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73649" y="2528887"/>
            <a:ext cx="40005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32899" y="2528887"/>
            <a:ext cx="400050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8"/>
          <p:cNvSpPr txBox="1"/>
          <p:nvPr/>
        </p:nvSpPr>
        <p:spPr>
          <a:xfrm>
            <a:off x="800100" y="571500"/>
            <a:ext cx="1136142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HALLAZGOS CRÍTICOS DE SEGURIDAD</a:t>
            </a:r>
            <a:endParaRPr/>
          </a:p>
        </p:txBody>
      </p:sp>
      <p:sp>
        <p:nvSpPr>
          <p:cNvPr id="169" name="Google Shape;169;p18"/>
          <p:cNvSpPr/>
          <p:nvPr/>
        </p:nvSpPr>
        <p:spPr>
          <a:xfrm>
            <a:off x="571500" y="571500"/>
            <a:ext cx="76200" cy="504825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C0B"/>
        </a:solidFill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871662"/>
            <a:ext cx="523875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9"/>
          <p:cNvSpPr txBox="1"/>
          <p:nvPr/>
        </p:nvSpPr>
        <p:spPr>
          <a:xfrm>
            <a:off x="571500" y="1871662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MANIPULACIÓN DE ARTEFACTOS</a:t>
            </a:r>
            <a:endParaRPr/>
          </a:p>
        </p:txBody>
      </p:sp>
      <p:sp>
        <p:nvSpPr>
          <p:cNvPr id="177" name="Google Shape;177;p19"/>
          <p:cNvSpPr txBox="1"/>
          <p:nvPr/>
        </p:nvSpPr>
        <p:spPr>
          <a:xfrm>
            <a:off x="571500" y="2281237"/>
            <a:ext cx="52387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El archivo </a:t>
            </a:r>
            <a:r>
              <a:rPr lang="en-US" sz="1500" b="1" i="0" u="none" strike="noStrike" cap="none">
                <a:solidFill>
                  <a:srgbClr val="22C55E"/>
                </a:solidFill>
                <a:latin typeface="Inter"/>
                <a:ea typeface="Inter"/>
                <a:cs typeface="Inter"/>
                <a:sym typeface="Inter"/>
              </a:rPr>
              <a:t>.mysql_history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reveló la creación de puertas traseras: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571500" y="4090987"/>
            <a:ext cx="523875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Este usuario fue creado estratégicamente para mantener el control de los datos incluso tras un reinicio del servidor.</a:t>
            </a:r>
            <a:endParaRPr/>
          </a:p>
        </p:txBody>
      </p:sp>
      <p:pic>
        <p:nvPicPr>
          <p:cNvPr id="179" name="Google Shape;179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275" y="1881187"/>
            <a:ext cx="5219700" cy="398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9"/>
          <p:cNvSpPr txBox="1"/>
          <p:nvPr/>
        </p:nvSpPr>
        <p:spPr>
          <a:xfrm>
            <a:off x="847725" y="3043237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952500" y="3043237"/>
            <a:ext cx="48577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Usuario: </a:t>
            </a:r>
            <a:r>
              <a:rPr lang="en-US" sz="1500" b="1" i="0" u="none" strike="noStrike" cap="none">
                <a:solidFill>
                  <a:srgbClr val="22C55E"/>
                </a:solidFill>
                <a:latin typeface="Inter"/>
                <a:ea typeface="Inter"/>
                <a:cs typeface="Inter"/>
                <a:sym typeface="Inter"/>
              </a:rPr>
              <a:t>'wordpressuser'</a:t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847725" y="3328987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83" name="Google Shape;183;p19"/>
          <p:cNvSpPr txBox="1"/>
          <p:nvPr/>
        </p:nvSpPr>
        <p:spPr>
          <a:xfrm>
            <a:off x="952500" y="3328987"/>
            <a:ext cx="48577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Contraseña: </a:t>
            </a:r>
            <a:r>
              <a:rPr lang="en-US" sz="1500" b="1" i="0" u="none" strike="noStrike" cap="none">
                <a:solidFill>
                  <a:srgbClr val="22C55E"/>
                </a:solidFill>
                <a:latin typeface="Inter"/>
                <a:ea typeface="Inter"/>
                <a:cs typeface="Inter"/>
                <a:sym typeface="Inter"/>
              </a:rPr>
              <a:t>'123456'</a:t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847725" y="3614737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952500" y="3614737"/>
            <a:ext cx="48577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Permisos: </a:t>
            </a:r>
            <a:r>
              <a:rPr lang="en-US" sz="1500" b="1" i="0" u="none" strike="noStrike" cap="none">
                <a:solidFill>
                  <a:srgbClr val="22C55E"/>
                </a:solidFill>
                <a:latin typeface="Inter"/>
                <a:ea typeface="Inter"/>
                <a:cs typeface="Inter"/>
                <a:sym typeface="Inter"/>
              </a:rPr>
              <a:t>GRANT ALL PRIVILEGES</a:t>
            </a:r>
            <a:endParaRPr/>
          </a:p>
        </p:txBody>
      </p:sp>
      <p:sp>
        <p:nvSpPr>
          <p:cNvPr id="186" name="Google Shape;186;p19"/>
          <p:cNvSpPr txBox="1"/>
          <p:nvPr/>
        </p:nvSpPr>
        <p:spPr>
          <a:xfrm>
            <a:off x="800100" y="571500"/>
            <a:ext cx="1136142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ANÁLISIS DE PERSISTENCIA: MYSQL</a:t>
            </a:r>
            <a:endParaRPr/>
          </a:p>
        </p:txBody>
      </p:sp>
      <p:sp>
        <p:nvSpPr>
          <p:cNvPr id="187" name="Google Shape;187;p19"/>
          <p:cNvSpPr/>
          <p:nvPr/>
        </p:nvSpPr>
        <p:spPr>
          <a:xfrm>
            <a:off x="571500" y="571500"/>
            <a:ext cx="76200" cy="504825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C0B"/>
        </a:solidFill>
        <a:effectLst/>
      </p:bgPr>
    </p:bg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20" title="Captura de pantalla 2026-05-02 082255.png"/>
          <p:cNvPicPr preferRelativeResize="0"/>
          <p:nvPr/>
        </p:nvPicPr>
        <p:blipFill rotWithShape="1">
          <a:blip r:embed="rId3">
            <a:alphaModFix/>
          </a:blip>
          <a:srcRect t="46221" r="29849" b="7553"/>
          <a:stretch/>
        </p:blipFill>
        <p:spPr>
          <a:xfrm>
            <a:off x="5913125" y="888425"/>
            <a:ext cx="6278874" cy="4678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0"/>
          <p:cNvSpPr txBox="1"/>
          <p:nvPr/>
        </p:nvSpPr>
        <p:spPr>
          <a:xfrm>
            <a:off x="800100" y="1019175"/>
            <a:ext cx="4960620" cy="1009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INTEGRIDAD: CHMOD 777</a:t>
            </a:r>
            <a:endParaRPr/>
          </a:p>
        </p:txBody>
      </p:sp>
      <p:sp>
        <p:nvSpPr>
          <p:cNvPr id="194" name="Google Shape;194;p20"/>
          <p:cNvSpPr/>
          <p:nvPr/>
        </p:nvSpPr>
        <p:spPr>
          <a:xfrm>
            <a:off x="571500" y="1019175"/>
            <a:ext cx="76200" cy="100965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0"/>
          <p:cNvSpPr txBox="1"/>
          <p:nvPr/>
        </p:nvSpPr>
        <p:spPr>
          <a:xfrm>
            <a:off x="571500" y="2409825"/>
            <a:ext cx="520065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PERMISOS GLOBALES INSEGUROS</a:t>
            </a:r>
            <a:endParaRPr/>
          </a:p>
        </p:txBody>
      </p:sp>
      <p:sp>
        <p:nvSpPr>
          <p:cNvPr id="196" name="Google Shape;196;p20"/>
          <p:cNvSpPr txBox="1"/>
          <p:nvPr/>
        </p:nvSpPr>
        <p:spPr>
          <a:xfrm>
            <a:off x="571500" y="3009900"/>
            <a:ext cx="4953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Se identificaron permisos rwxrwxrwx en archivos críticos del servidor web Apache:</a:t>
            </a:r>
            <a:endParaRPr/>
          </a:p>
        </p:txBody>
      </p:sp>
      <p:sp>
        <p:nvSpPr>
          <p:cNvPr id="197" name="Google Shape;197;p20"/>
          <p:cNvSpPr txBox="1"/>
          <p:nvPr/>
        </p:nvSpPr>
        <p:spPr>
          <a:xfrm>
            <a:off x="571500" y="5114925"/>
            <a:ext cx="4953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Impacto: Escalada de privilegios horizontal instantánea.</a:t>
            </a:r>
            <a:endParaRPr/>
          </a:p>
        </p:txBody>
      </p:sp>
      <p:sp>
        <p:nvSpPr>
          <p:cNvPr id="198" name="Google Shape;198;p20"/>
          <p:cNvSpPr txBox="1"/>
          <p:nvPr/>
        </p:nvSpPr>
        <p:spPr>
          <a:xfrm>
            <a:off x="847725" y="3914775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99" name="Google Shape;199;p20"/>
          <p:cNvSpPr txBox="1"/>
          <p:nvPr/>
        </p:nvSpPr>
        <p:spPr>
          <a:xfrm>
            <a:off x="952500" y="3914775"/>
            <a:ext cx="4572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22C55E"/>
                </a:solidFill>
                <a:latin typeface="Inter"/>
                <a:ea typeface="Inter"/>
                <a:cs typeface="Inter"/>
                <a:sym typeface="Inter"/>
              </a:rPr>
              <a:t>.htaccess: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Manipulación de flujo de tráfico.</a:t>
            </a:r>
            <a:endParaRPr/>
          </a:p>
        </p:txBody>
      </p:sp>
      <p:sp>
        <p:nvSpPr>
          <p:cNvPr id="200" name="Google Shape;200;p20"/>
          <p:cNvSpPr txBox="1"/>
          <p:nvPr/>
        </p:nvSpPr>
        <p:spPr>
          <a:xfrm>
            <a:off x="847725" y="4200525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01" name="Google Shape;201;p20"/>
          <p:cNvSpPr txBox="1"/>
          <p:nvPr/>
        </p:nvSpPr>
        <p:spPr>
          <a:xfrm>
            <a:off x="952500" y="4200525"/>
            <a:ext cx="4572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22C55E"/>
                </a:solidFill>
                <a:latin typeface="Inter"/>
                <a:ea typeface="Inter"/>
                <a:cs typeface="Inter"/>
                <a:sym typeface="Inter"/>
              </a:rPr>
              <a:t>wp-config.php: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Exposición de claves de DB.</a:t>
            </a:r>
            <a:endParaRPr/>
          </a:p>
        </p:txBody>
      </p:sp>
      <p:sp>
        <p:nvSpPr>
          <p:cNvPr id="202" name="Google Shape;202;p20"/>
          <p:cNvSpPr txBox="1"/>
          <p:nvPr/>
        </p:nvSpPr>
        <p:spPr>
          <a:xfrm>
            <a:off x="847725" y="4486275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03" name="Google Shape;203;p20"/>
          <p:cNvSpPr txBox="1"/>
          <p:nvPr/>
        </p:nvSpPr>
        <p:spPr>
          <a:xfrm>
            <a:off x="952500" y="4486275"/>
            <a:ext cx="4572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22C55E"/>
                </a:solidFill>
                <a:latin typeface="Inter"/>
                <a:ea typeface="Inter"/>
                <a:cs typeface="Inter"/>
                <a:sym typeface="Inter"/>
              </a:rPr>
              <a:t>index.html: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Defacement del sitio.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C0B"/>
        </a:solid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374850"/>
            <a:ext cx="5238750" cy="2276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546425"/>
            <a:ext cx="5238750" cy="870049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1"/>
          <p:cNvSpPr txBox="1"/>
          <p:nvPr/>
        </p:nvSpPr>
        <p:spPr>
          <a:xfrm>
            <a:off x="571500" y="2374850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DEFINICIÓN DE OBJETIVOS</a:t>
            </a:r>
            <a:endParaRPr/>
          </a:p>
        </p:txBody>
      </p:sp>
      <p:sp>
        <p:nvSpPr>
          <p:cNvPr id="212" name="Google Shape;212;p21"/>
          <p:cNvSpPr txBox="1"/>
          <p:nvPr/>
        </p:nvSpPr>
        <p:spPr>
          <a:xfrm>
            <a:off x="571500" y="2784425"/>
            <a:ext cx="52387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Para garantizar la resiliencia operativa de Raven Security, establecemos:</a:t>
            </a:r>
            <a:endParaRPr/>
          </a:p>
        </p:txBody>
      </p:sp>
      <p:sp>
        <p:nvSpPr>
          <p:cNvPr id="213" name="Google Shape;213;p21"/>
          <p:cNvSpPr txBox="1"/>
          <p:nvPr/>
        </p:nvSpPr>
        <p:spPr>
          <a:xfrm>
            <a:off x="571500" y="4606974"/>
            <a:ext cx="52387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22C55E"/>
                </a:solidFill>
                <a:latin typeface="Inter"/>
                <a:ea typeface="Inter"/>
                <a:cs typeface="Inter"/>
                <a:sym typeface="Inter"/>
              </a:rPr>
              <a:t>RPO: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Máximo 24h de pérdida de datos aceptable mediante backups incrementales diarios aislados.</a:t>
            </a:r>
            <a:endParaRPr/>
          </a:p>
        </p:txBody>
      </p:sp>
      <p:sp>
        <p:nvSpPr>
          <p:cNvPr id="214" name="Google Shape;214;p21"/>
          <p:cNvSpPr txBox="1"/>
          <p:nvPr/>
        </p:nvSpPr>
        <p:spPr>
          <a:xfrm>
            <a:off x="6667500" y="2660600"/>
            <a:ext cx="4900612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22C55E"/>
                </a:solidFill>
                <a:latin typeface="Urbanist"/>
                <a:ea typeface="Urbanist"/>
                <a:cs typeface="Urbanist"/>
                <a:sym typeface="Urbanist"/>
              </a:rPr>
              <a:t>PRIORIZACIÓN DE ACTIVOS</a:t>
            </a:r>
            <a:endParaRPr/>
          </a:p>
        </p:txBody>
      </p:sp>
      <p:pic>
        <p:nvPicPr>
          <p:cNvPr id="215" name="Google Shape;215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6775" y="3841700"/>
            <a:ext cx="4648200" cy="279499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1"/>
          <p:cNvSpPr txBox="1"/>
          <p:nvPr/>
        </p:nvSpPr>
        <p:spPr>
          <a:xfrm>
            <a:off x="6667500" y="3070175"/>
            <a:ext cx="46672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22C55E"/>
                </a:solidFill>
                <a:latin typeface="Inter"/>
                <a:ea typeface="Inter"/>
                <a:cs typeface="Inter"/>
                <a:sym typeface="Inter"/>
              </a:rPr>
              <a:t>Nivel 1: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Web &amp; DB (Inmediato)</a:t>
            </a:r>
            <a:endParaRPr/>
          </a:p>
        </p:txBody>
      </p:sp>
      <p:sp>
        <p:nvSpPr>
          <p:cNvPr id="217" name="Google Shape;217;p21"/>
          <p:cNvSpPr txBox="1"/>
          <p:nvPr/>
        </p:nvSpPr>
        <p:spPr>
          <a:xfrm>
            <a:off x="6667500" y="3498800"/>
            <a:ext cx="46672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22C55E"/>
                </a:solidFill>
                <a:latin typeface="Inter"/>
                <a:ea typeface="Inter"/>
                <a:cs typeface="Inter"/>
                <a:sym typeface="Inter"/>
              </a:rPr>
              <a:t>Nivel 2: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FTP &amp; Gestión (24h)</a:t>
            </a:r>
            <a:endParaRPr/>
          </a:p>
        </p:txBody>
      </p:sp>
      <p:sp>
        <p:nvSpPr>
          <p:cNvPr id="218" name="Google Shape;218;p21"/>
          <p:cNvSpPr txBox="1"/>
          <p:nvPr/>
        </p:nvSpPr>
        <p:spPr>
          <a:xfrm>
            <a:off x="6667500" y="3927425"/>
            <a:ext cx="46672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22C55E"/>
                </a:solidFill>
                <a:latin typeface="Inter"/>
                <a:ea typeface="Inter"/>
                <a:cs typeface="Inter"/>
                <a:sym typeface="Inter"/>
              </a:rPr>
              <a:t>Nivel 3: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Logs &amp; Auditoría (&gt;24h)</a:t>
            </a:r>
            <a:endParaRPr/>
          </a:p>
        </p:txBody>
      </p:sp>
      <p:pic>
        <p:nvPicPr>
          <p:cNvPr id="219" name="Google Shape;219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67500" y="311303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67500" y="354166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67500" y="3970287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1"/>
          <p:cNvSpPr txBox="1"/>
          <p:nvPr/>
        </p:nvSpPr>
        <p:spPr>
          <a:xfrm>
            <a:off x="800100" y="571500"/>
            <a:ext cx="1136142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CONTINUIDAD: RTO Y RPO</a:t>
            </a:r>
            <a:endParaRPr/>
          </a:p>
        </p:txBody>
      </p:sp>
      <p:sp>
        <p:nvSpPr>
          <p:cNvPr id="223" name="Google Shape;223;p21"/>
          <p:cNvSpPr/>
          <p:nvPr/>
        </p:nvSpPr>
        <p:spPr>
          <a:xfrm>
            <a:off x="571500" y="571500"/>
            <a:ext cx="76200" cy="504825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C0B"/>
        </a:solidFill>
        <a:effectLst/>
      </p:bgPr>
    </p:bg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2"/>
          <p:cNvSpPr/>
          <p:nvPr/>
        </p:nvSpPr>
        <p:spPr>
          <a:xfrm>
            <a:off x="571500" y="2390775"/>
            <a:ext cx="11049000" cy="2962275"/>
          </a:xfrm>
          <a:prstGeom prst="roundRect">
            <a:avLst>
              <a:gd name="adj" fmla="val 0"/>
            </a:avLst>
          </a:prstGeom>
          <a:solidFill>
            <a:srgbClr val="151817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30" name="Google Shape;230;p22"/>
          <p:cNvGraphicFramePr/>
          <p:nvPr/>
        </p:nvGraphicFramePr>
        <p:xfrm>
          <a:off x="571500" y="2390775"/>
          <a:ext cx="11049000" cy="2962250"/>
        </p:xfrm>
        <a:graphic>
          <a:graphicData uri="http://schemas.openxmlformats.org/drawingml/2006/table">
            <a:tbl>
              <a:tblPr firstRow="1" bandRow="1">
                <a:noFill/>
                <a:tableStyleId>{19EF75F8-2777-48CC-8FBA-4F5B5BF0586D}</a:tableStyleId>
              </a:tblPr>
              <a:tblGrid>
                <a:gridCol w="2245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30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72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2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22C55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Servicio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2C55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22C55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Estado Actual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2C55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22C55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Acción Correctiva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2C5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2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1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SSH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Root login permitido / Pass 123456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Inhabilitar login root / Forzar llaves RSA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2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1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Servidor Web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Permisos 777 en /html/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Aplicar chmod 644/755 estrictamente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2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1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FTP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Acceso Anonymous habilitado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Deshabilitar anonymous y forzar SFTP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2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1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CMS WordPress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v6.9.4 Obsoleta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Actualizar a v6.5+ / Parches inmediatos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31" name="Google Shape;231;p22"/>
          <p:cNvSpPr/>
          <p:nvPr/>
        </p:nvSpPr>
        <p:spPr>
          <a:xfrm>
            <a:off x="571500" y="3000375"/>
            <a:ext cx="2245816" cy="1905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2"/>
          <p:cNvSpPr/>
          <p:nvPr/>
        </p:nvSpPr>
        <p:spPr>
          <a:xfrm>
            <a:off x="2817316" y="3000375"/>
            <a:ext cx="4130426" cy="1905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2"/>
          <p:cNvSpPr/>
          <p:nvPr/>
        </p:nvSpPr>
        <p:spPr>
          <a:xfrm>
            <a:off x="6947743" y="3000375"/>
            <a:ext cx="4672756" cy="1905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2"/>
          <p:cNvSpPr/>
          <p:nvPr/>
        </p:nvSpPr>
        <p:spPr>
          <a:xfrm>
            <a:off x="571500" y="3595687"/>
            <a:ext cx="2245816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2"/>
          <p:cNvSpPr/>
          <p:nvPr/>
        </p:nvSpPr>
        <p:spPr>
          <a:xfrm>
            <a:off x="2817316" y="3595687"/>
            <a:ext cx="4130426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2"/>
          <p:cNvSpPr/>
          <p:nvPr/>
        </p:nvSpPr>
        <p:spPr>
          <a:xfrm>
            <a:off x="6947743" y="3595687"/>
            <a:ext cx="4672756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2"/>
          <p:cNvSpPr/>
          <p:nvPr/>
        </p:nvSpPr>
        <p:spPr>
          <a:xfrm>
            <a:off x="571500" y="4176712"/>
            <a:ext cx="2245816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2"/>
          <p:cNvSpPr/>
          <p:nvPr/>
        </p:nvSpPr>
        <p:spPr>
          <a:xfrm>
            <a:off x="2817316" y="4176712"/>
            <a:ext cx="4130426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2"/>
          <p:cNvSpPr/>
          <p:nvPr/>
        </p:nvSpPr>
        <p:spPr>
          <a:xfrm>
            <a:off x="6947743" y="4176712"/>
            <a:ext cx="4672756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2"/>
          <p:cNvSpPr/>
          <p:nvPr/>
        </p:nvSpPr>
        <p:spPr>
          <a:xfrm>
            <a:off x="571500" y="4757737"/>
            <a:ext cx="2245816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2"/>
          <p:cNvSpPr/>
          <p:nvPr/>
        </p:nvSpPr>
        <p:spPr>
          <a:xfrm>
            <a:off x="2817316" y="4757737"/>
            <a:ext cx="4130426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2"/>
          <p:cNvSpPr/>
          <p:nvPr/>
        </p:nvSpPr>
        <p:spPr>
          <a:xfrm>
            <a:off x="6947743" y="4757737"/>
            <a:ext cx="4672756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2"/>
          <p:cNvSpPr/>
          <p:nvPr/>
        </p:nvSpPr>
        <p:spPr>
          <a:xfrm>
            <a:off x="571500" y="5338762"/>
            <a:ext cx="2245816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2"/>
          <p:cNvSpPr/>
          <p:nvPr/>
        </p:nvSpPr>
        <p:spPr>
          <a:xfrm>
            <a:off x="2817316" y="5338762"/>
            <a:ext cx="4130426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2"/>
          <p:cNvSpPr/>
          <p:nvPr/>
        </p:nvSpPr>
        <p:spPr>
          <a:xfrm>
            <a:off x="6947743" y="5338762"/>
            <a:ext cx="4672756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2"/>
          <p:cNvSpPr txBox="1"/>
          <p:nvPr/>
        </p:nvSpPr>
        <p:spPr>
          <a:xfrm>
            <a:off x="800100" y="571500"/>
            <a:ext cx="1136142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PLAN DE ENDURECIMIENTO (HARDENING)</a:t>
            </a:r>
            <a:endParaRPr/>
          </a:p>
        </p:txBody>
      </p:sp>
      <p:sp>
        <p:nvSpPr>
          <p:cNvPr id="247" name="Google Shape;247;p22"/>
          <p:cNvSpPr/>
          <p:nvPr/>
        </p:nvSpPr>
        <p:spPr>
          <a:xfrm>
            <a:off x="571500" y="571500"/>
            <a:ext cx="76200" cy="504825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C0B"/>
        </a:solidFill>
        <a:effectLst/>
      </p:bgPr>
    </p:bg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Google Shape;252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5181600"/>
            <a:ext cx="11049000" cy="142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1457325"/>
            <a:ext cx="3530649" cy="343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330749" y="1457325"/>
            <a:ext cx="3530649" cy="343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89999" y="1457325"/>
            <a:ext cx="3530649" cy="343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2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5181600"/>
            <a:ext cx="11049000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3"/>
          <p:cNvSpPr txBox="1"/>
          <p:nvPr/>
        </p:nvSpPr>
        <p:spPr>
          <a:xfrm>
            <a:off x="914400" y="2476500"/>
            <a:ext cx="298709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REDUNDANCIA OFF-SITE</a:t>
            </a:r>
            <a:endParaRPr/>
          </a:p>
        </p:txBody>
      </p:sp>
      <p:sp>
        <p:nvSpPr>
          <p:cNvPr id="259" name="Google Shape;259;p23"/>
          <p:cNvSpPr txBox="1"/>
          <p:nvPr/>
        </p:nvSpPr>
        <p:spPr>
          <a:xfrm>
            <a:off x="914400" y="2943225"/>
            <a:ext cx="2844849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Backups inmutables en regiones geográficas distintas para prevenir pérdida por desastres locales.</a:t>
            </a:r>
            <a:endParaRPr/>
          </a:p>
        </p:txBody>
      </p:sp>
      <p:sp>
        <p:nvSpPr>
          <p:cNvPr id="260" name="Google Shape;260;p23"/>
          <p:cNvSpPr txBox="1"/>
          <p:nvPr/>
        </p:nvSpPr>
        <p:spPr>
          <a:xfrm>
            <a:off x="4673649" y="2476500"/>
            <a:ext cx="298709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MONITOREO SIEM</a:t>
            </a:r>
            <a:endParaRPr/>
          </a:p>
        </p:txBody>
      </p:sp>
      <p:sp>
        <p:nvSpPr>
          <p:cNvPr id="261" name="Google Shape;261;p23"/>
          <p:cNvSpPr txBox="1"/>
          <p:nvPr/>
        </p:nvSpPr>
        <p:spPr>
          <a:xfrm>
            <a:off x="4673649" y="2943225"/>
            <a:ext cx="2844849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Integración de alertas en tiempo real sobre intentos de acceso fallidos y cambios de integridad.</a:t>
            </a:r>
            <a:endParaRPr/>
          </a:p>
        </p:txBody>
      </p:sp>
      <p:sp>
        <p:nvSpPr>
          <p:cNvPr id="262" name="Google Shape;262;p23"/>
          <p:cNvSpPr txBox="1"/>
          <p:nvPr/>
        </p:nvSpPr>
        <p:spPr>
          <a:xfrm>
            <a:off x="8432899" y="2476500"/>
            <a:ext cx="2987092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AUDITORÍAS RECURRENTES</a:t>
            </a:r>
            <a:endParaRPr/>
          </a:p>
        </p:txBody>
      </p:sp>
      <p:sp>
        <p:nvSpPr>
          <p:cNvPr id="263" name="Google Shape;263;p23"/>
          <p:cNvSpPr txBox="1"/>
          <p:nvPr/>
        </p:nvSpPr>
        <p:spPr>
          <a:xfrm>
            <a:off x="8432899" y="3219450"/>
            <a:ext cx="2844849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Ciclos trimestrales de Pentesting para validar la postura de seguridad ante nuevas amenazas.</a:t>
            </a:r>
            <a:endParaRPr/>
          </a:p>
        </p:txBody>
      </p:sp>
      <p:pic>
        <p:nvPicPr>
          <p:cNvPr id="264" name="Google Shape;264;p2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14400" y="1838325"/>
            <a:ext cx="504825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23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673649" y="1838325"/>
            <a:ext cx="40005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23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432899" y="1838325"/>
            <a:ext cx="400050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3"/>
          <p:cNvSpPr txBox="1"/>
          <p:nvPr/>
        </p:nvSpPr>
        <p:spPr>
          <a:xfrm>
            <a:off x="800100" y="571500"/>
            <a:ext cx="1136142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VISIÓN DE SEGURIDAD FUTURA</a:t>
            </a:r>
            <a:endParaRPr/>
          </a:p>
        </p:txBody>
      </p:sp>
      <p:sp>
        <p:nvSpPr>
          <p:cNvPr id="268" name="Google Shape;268;p23"/>
          <p:cNvSpPr/>
          <p:nvPr/>
        </p:nvSpPr>
        <p:spPr>
          <a:xfrm>
            <a:off x="571500" y="571500"/>
            <a:ext cx="76200" cy="504825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C0B"/>
        </a:solidFill>
        <a:effectLst/>
      </p:bgPr>
    </p:bg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73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4"/>
          <p:cNvSpPr txBox="1"/>
          <p:nvPr/>
        </p:nvSpPr>
        <p:spPr>
          <a:xfrm>
            <a:off x="571500" y="2477912"/>
            <a:ext cx="11049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Informe Final de </a:t>
            </a:r>
            <a:r>
              <a:rPr lang="en-US" sz="2400" b="0" i="0" u="none" strike="noStrike" cap="none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Ciberseguridad</a:t>
            </a:r>
            <a:r>
              <a:rPr lang="en-US" sz="2400" b="0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- Raven Security</a:t>
            </a:r>
            <a:endParaRPr dirty="0"/>
          </a:p>
        </p:txBody>
      </p:sp>
      <p:sp>
        <p:nvSpPr>
          <p:cNvPr id="276" name="Google Shape;276;p24"/>
          <p:cNvSpPr txBox="1"/>
          <p:nvPr/>
        </p:nvSpPr>
        <p:spPr>
          <a:xfrm>
            <a:off x="571500" y="3600450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22C55E"/>
                </a:solidFill>
                <a:latin typeface="Inter"/>
                <a:ea typeface="Inter"/>
                <a:cs typeface="Inter"/>
                <a:sym typeface="Inter"/>
              </a:rPr>
              <a:t>Contacto de Emergencia: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it-support@ravensecurity.io</a:t>
            </a:r>
            <a:endParaRPr/>
          </a:p>
        </p:txBody>
      </p:sp>
      <p:sp>
        <p:nvSpPr>
          <p:cNvPr id="277" name="Google Shape;277;p24"/>
          <p:cNvSpPr txBox="1"/>
          <p:nvPr/>
        </p:nvSpPr>
        <p:spPr>
          <a:xfrm>
            <a:off x="571500" y="4076700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Protección Digital Inteligente | Julio Leandro Fraga Pirola</a:t>
            </a:r>
            <a:endParaRPr/>
          </a:p>
        </p:txBody>
      </p:sp>
      <p:pic>
        <p:nvPicPr>
          <p:cNvPr id="2" name="Google Shape;89;p13" title="Gemini_Generated_Image_ch6lhcch6lhcch6l.png">
            <a:extLst>
              <a:ext uri="{FF2B5EF4-FFF2-40B4-BE49-F238E27FC236}">
                <a16:creationId xmlns:a16="http://schemas.microsoft.com/office/drawing/2014/main" id="{77D2DA6A-3C2F-45B0-DAA5-CA2C33E0F48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-5326" r="6688"/>
          <a:stretch/>
        </p:blipFill>
        <p:spPr>
          <a:xfrm>
            <a:off x="4110450" y="0"/>
            <a:ext cx="3890550" cy="2269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560</Words>
  <Application>Microsoft Office PowerPoint</Application>
  <PresentationFormat>Panorámica</PresentationFormat>
  <Paragraphs>88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8" baseType="lpstr">
      <vt:lpstr>Urbanist</vt:lpstr>
      <vt:lpstr>Calibri</vt:lpstr>
      <vt:lpstr>Inter SemiBold</vt:lpstr>
      <vt:lpstr>Inter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julio leandro fraga pirola</cp:lastModifiedBy>
  <cp:revision>2</cp:revision>
  <dcterms:modified xsi:type="dcterms:W3CDTF">2026-05-25T13:56:46Z</dcterms:modified>
</cp:coreProperties>
</file>